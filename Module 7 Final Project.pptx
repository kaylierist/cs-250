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Old Standard TT"/>
      <p:regular r:id="rId13"/>
      <p:bold r:id="rId14"/>
      <p: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ldStandardTT-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ldStandardTT-italic.fntdata"/><Relationship Id="rId14" Type="http://schemas.openxmlformats.org/officeDocument/2006/relationships/font" Target="fonts/OldStandardT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a15f5d2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a15f5d2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a15f5d27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a15f5d2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a15f5d27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a15f5d2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ca15f5d27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ca15f5d27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a15f5d27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a15f5d27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a15f5d27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a15f5d27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tutorialspoint.com/sdlc/sdlc_waterfall_model.htm?utm_source=chatgpt.com" TargetMode="External"/><Relationship Id="rId4" Type="http://schemas.openxmlformats.org/officeDocument/2006/relationships/hyperlink" Target="https://www.tutorialspoint.com/sdlc/sdlc_waterfall_model.htm" TargetMode="External"/><Relationship Id="rId11" Type="http://schemas.openxmlformats.org/officeDocument/2006/relationships/hyperlink" Target="https://resources.scrumalliance.org/Article/scrum-team?utm_source=chatgpt.com" TargetMode="External"/><Relationship Id="rId10" Type="http://schemas.openxmlformats.org/officeDocument/2006/relationships/hyperlink" Target="https://resources.scrumalliance.org/Article/scrum-team?utm_source=chatgpt.com" TargetMode="External"/><Relationship Id="rId9" Type="http://schemas.openxmlformats.org/officeDocument/2006/relationships/hyperlink" Target="https://www.knowledgetrain.co.uk/agile/agile-project-management/agile-project-management-course/agile-principles?srsltid=AfmBOooE7pXih36IWcDcgfs-g7-KrvWsWaFyGtBUGWGURaLAkv4oCLk3&amp;utm_source=chatgpt.com" TargetMode="External"/><Relationship Id="rId5" Type="http://schemas.openxmlformats.org/officeDocument/2006/relationships/hyperlink" Target="https://www.tutorialspoint.com/sdlc/sdlc_agile_model.htm?utm_source=chatgpt.com" TargetMode="External"/><Relationship Id="rId6" Type="http://schemas.openxmlformats.org/officeDocument/2006/relationships/hyperlink" Target="https://www.tutorialspoint.com/sdlc/sdlc_agile_model.htm" TargetMode="External"/><Relationship Id="rId7" Type="http://schemas.openxmlformats.org/officeDocument/2006/relationships/hyperlink" Target="https://www.knowledgetrain.co.uk/agile/agile-project-management/agile-project-management-course/agile-principles?srsltid=AfmBOooE7pXih36IWcDcgfs-g7-KrvWsWaFyGtBUGWGURaLAkv4oCLk3&amp;utm_source=chatgpt.com" TargetMode="External"/><Relationship Id="rId8" Type="http://schemas.openxmlformats.org/officeDocument/2006/relationships/hyperlink" Target="https://www.knowledgetrain.co.uk/agile/agile-project-management/agile-project-management-course/agile-principles?srsltid=AfmBOooE7pXih36IWcDcgfs-g7-KrvWsWaFyGtBUGWGURaLAkv4oCLk3&amp;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Scrum/Agile Approach</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Kaylie Rist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Roles of Each Scrum Team Member</a:t>
            </a:r>
            <a:endParaRPr/>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a:t>Scrum Master- </a:t>
            </a:r>
            <a:r>
              <a:rPr lang="en"/>
              <a:t>Organizes the team scrum events. Helps team create high value products and removes barriers from development. Keeps team aligned with agile practices through process.</a:t>
            </a:r>
            <a:endParaRPr/>
          </a:p>
          <a:p>
            <a:pPr indent="0" lvl="0" marL="0" rtl="0" algn="l">
              <a:spcBef>
                <a:spcPts val="1200"/>
              </a:spcBef>
              <a:spcAft>
                <a:spcPts val="0"/>
              </a:spcAft>
              <a:buNone/>
            </a:pPr>
            <a:r>
              <a:rPr b="1" lang="en"/>
              <a:t>Product Owner- </a:t>
            </a:r>
            <a:r>
              <a:rPr lang="en"/>
              <a:t>Directs team on tasks and priorities during scrum events, coordinates closely with each team member. </a:t>
            </a:r>
            <a:r>
              <a:rPr lang="en"/>
              <a:t>Their</a:t>
            </a:r>
            <a:r>
              <a:rPr lang="en"/>
              <a:t> goal is to maximize the value of the product.</a:t>
            </a:r>
            <a:endParaRPr/>
          </a:p>
          <a:p>
            <a:pPr indent="0" lvl="0" marL="0" rtl="0" algn="l">
              <a:spcBef>
                <a:spcPts val="1200"/>
              </a:spcBef>
              <a:spcAft>
                <a:spcPts val="0"/>
              </a:spcAft>
              <a:buNone/>
            </a:pPr>
            <a:r>
              <a:rPr b="1" lang="en"/>
              <a:t>Developers- </a:t>
            </a:r>
            <a:r>
              <a:rPr lang="en"/>
              <a:t>Design and develop code for projects. They must participate in peer review and provide updates and estimates on time spent on each task. </a:t>
            </a:r>
            <a:endParaRPr/>
          </a:p>
          <a:p>
            <a:pPr indent="0" lvl="0" marL="0" rtl="0" algn="l">
              <a:spcBef>
                <a:spcPts val="1200"/>
              </a:spcBef>
              <a:spcAft>
                <a:spcPts val="0"/>
              </a:spcAft>
              <a:buNone/>
            </a:pPr>
            <a:r>
              <a:rPr b="1" lang="en"/>
              <a:t>Testers- </a:t>
            </a:r>
            <a:r>
              <a:rPr lang="en"/>
              <a:t>Define acceptance criteria and acceptance tests for a product. They execute the test for a product and provide the team with feedback of how it met the criteria established.</a:t>
            </a:r>
            <a:endParaRPr/>
          </a:p>
          <a:p>
            <a:pPr indent="0" lvl="0" marL="0" rtl="0" algn="l">
              <a:spcBef>
                <a:spcPts val="1200"/>
              </a:spcBef>
              <a:spcAft>
                <a:spcPts val="1200"/>
              </a:spcAft>
              <a:buNone/>
            </a:pPr>
            <a:r>
              <a:rPr b="1" lang="en"/>
              <a:t>Client- </a:t>
            </a:r>
            <a:r>
              <a:rPr lang="en"/>
              <a:t>Provides ideas for new product, defines </a:t>
            </a:r>
            <a:r>
              <a:rPr lang="en"/>
              <a:t>requirements and stays in close contact with the team during development in case any changes come about.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Agile Phases of Software Development Life Cycle</a:t>
            </a:r>
            <a:endParaRPr/>
          </a:p>
        </p:txBody>
      </p:sp>
      <p:sp>
        <p:nvSpPr>
          <p:cNvPr id="72" name="Google Shape;72;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Planning/Ideation- scrum team defines the purpose of the product and business and user requirements, allocates resources appropriately and sets initial priorities</a:t>
            </a:r>
            <a:endParaRPr/>
          </a:p>
          <a:p>
            <a:pPr indent="-342900" lvl="0" marL="457200" rtl="0" algn="l">
              <a:spcBef>
                <a:spcPts val="0"/>
              </a:spcBef>
              <a:spcAft>
                <a:spcPts val="0"/>
              </a:spcAft>
              <a:buSzPts val="1800"/>
              <a:buAutoNum type="arabicPeriod"/>
            </a:pPr>
            <a:r>
              <a:rPr lang="en"/>
              <a:t>Design/Development- involves designing, architecting, and coding the product</a:t>
            </a:r>
            <a:endParaRPr/>
          </a:p>
          <a:p>
            <a:pPr indent="-342900" lvl="0" marL="457200" rtl="0" algn="l">
              <a:spcBef>
                <a:spcPts val="0"/>
              </a:spcBef>
              <a:spcAft>
                <a:spcPts val="0"/>
              </a:spcAft>
              <a:buSzPts val="1800"/>
              <a:buAutoNum type="arabicPeriod"/>
            </a:pPr>
            <a:r>
              <a:rPr lang="en"/>
              <a:t>Building/Testing- The team performs bug/error fixes and trial runs. Then, the product is released to a small group of users, who provide the team with feedback of what is good and bad about their </a:t>
            </a:r>
            <a:r>
              <a:rPr lang="en"/>
              <a:t>experience</a:t>
            </a:r>
            <a:r>
              <a:rPr lang="en"/>
              <a:t> with it. </a:t>
            </a:r>
            <a:endParaRPr/>
          </a:p>
          <a:p>
            <a:pPr indent="-342900" lvl="0" marL="457200" rtl="0" algn="l">
              <a:spcBef>
                <a:spcPts val="0"/>
              </a:spcBef>
              <a:spcAft>
                <a:spcPts val="0"/>
              </a:spcAft>
              <a:buSzPts val="1800"/>
              <a:buAutoNum type="arabicPeriod"/>
            </a:pPr>
            <a:r>
              <a:rPr lang="en"/>
              <a:t>Analysis- The team recaps user feedback and establishes any new priorities or tasks that came from it.</a:t>
            </a:r>
            <a:endParaRPr/>
          </a:p>
          <a:p>
            <a:pPr indent="-342900" lvl="0" marL="457200" rtl="0" algn="l">
              <a:spcBef>
                <a:spcPts val="0"/>
              </a:spcBef>
              <a:spcAft>
                <a:spcPts val="0"/>
              </a:spcAft>
              <a:buSzPts val="1800"/>
              <a:buAutoNum type="arabicPeriod"/>
            </a:pPr>
            <a:r>
              <a:rPr lang="en"/>
              <a:t>Project Completion- the refined product is released to the public once all final tests have been passed.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Waterfall Method</a:t>
            </a:r>
            <a:endParaRPr/>
          </a:p>
        </p:txBody>
      </p:sp>
      <p:sp>
        <p:nvSpPr>
          <p:cNvPr id="78" name="Google Shape;78;p1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waterfall method is different from the agile approach because all tasks fall into a sequential order, and one task is not started until the last is complete. Backlog flows directly down from task to task like a waterfall.</a:t>
            </a:r>
            <a:endParaRPr/>
          </a:p>
          <a:p>
            <a:pPr indent="0" lvl="0" marL="0" rtl="0" algn="l">
              <a:spcBef>
                <a:spcPts val="1200"/>
              </a:spcBef>
              <a:spcAft>
                <a:spcPts val="0"/>
              </a:spcAft>
              <a:buNone/>
            </a:pPr>
            <a:r>
              <a:rPr lang="en"/>
              <a:t>For the waterfall method to be successful, a product should already be clearly defined. Technology is not dynamic, requirements are not ambiguous, and the project is short. </a:t>
            </a:r>
            <a:endParaRPr/>
          </a:p>
          <a:p>
            <a:pPr indent="0" lvl="0" marL="0" rtl="0" algn="l">
              <a:spcBef>
                <a:spcPts val="1200"/>
              </a:spcBef>
              <a:spcAft>
                <a:spcPts val="1200"/>
              </a:spcAft>
              <a:buNone/>
            </a:pPr>
            <a:r>
              <a:rPr lang="en"/>
              <a:t>This method is not ideal for large projects or environments where requirements change frequently, which is how most companies today run. This is why they are stepping away from waterfall and moving on to methods like agile.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Agile vs. Waterfall</a:t>
            </a:r>
            <a:endParaRPr/>
          </a:p>
        </p:txBody>
      </p:sp>
      <p:sp>
        <p:nvSpPr>
          <p:cNvPr id="84" name="Google Shape;84;p17"/>
          <p:cNvSpPr txBox="1"/>
          <p:nvPr>
            <p:ph idx="1" type="body"/>
          </p:nvPr>
        </p:nvSpPr>
        <p:spPr>
          <a:xfrm>
            <a:off x="311700" y="1171675"/>
            <a:ext cx="3999900" cy="3397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sz="2114"/>
              <a:t>Agile</a:t>
            </a:r>
            <a:endParaRPr b="1" sz="2114"/>
          </a:p>
          <a:p>
            <a:pPr indent="-331514" lvl="0" marL="457200" rtl="0" algn="l">
              <a:spcBef>
                <a:spcPts val="1200"/>
              </a:spcBef>
              <a:spcAft>
                <a:spcPts val="0"/>
              </a:spcAft>
              <a:buSzPct val="100000"/>
              <a:buChar char="●"/>
            </a:pPr>
            <a:r>
              <a:rPr lang="en" sz="2315"/>
              <a:t>Better for large projects with changing priorities and ambiguous requirements.</a:t>
            </a:r>
            <a:endParaRPr sz="2315"/>
          </a:p>
          <a:p>
            <a:pPr indent="-331514" lvl="0" marL="457200" rtl="0" algn="l">
              <a:spcBef>
                <a:spcPts val="0"/>
              </a:spcBef>
              <a:spcAft>
                <a:spcPts val="0"/>
              </a:spcAft>
              <a:buSzPct val="100000"/>
              <a:buChar char="●"/>
            </a:pPr>
            <a:r>
              <a:rPr lang="en" sz="2315"/>
              <a:t>Allows for teams to communicate more freely and more often</a:t>
            </a:r>
            <a:endParaRPr sz="2315"/>
          </a:p>
          <a:p>
            <a:pPr indent="-331514" lvl="0" marL="457200" rtl="0" algn="l">
              <a:spcBef>
                <a:spcPts val="0"/>
              </a:spcBef>
              <a:spcAft>
                <a:spcPts val="0"/>
              </a:spcAft>
              <a:buSzPct val="100000"/>
              <a:buChar char="●"/>
            </a:pPr>
            <a:r>
              <a:rPr lang="en" sz="2315"/>
              <a:t>Sprints have end goals, but are not rigid and won’t slow the team from further development if they need to jump ahead</a:t>
            </a:r>
            <a:endParaRPr sz="2315"/>
          </a:p>
          <a:p>
            <a:pPr indent="-331514" lvl="0" marL="457200" rtl="0" algn="l">
              <a:spcBef>
                <a:spcPts val="0"/>
              </a:spcBef>
              <a:spcAft>
                <a:spcPts val="0"/>
              </a:spcAft>
              <a:buSzPct val="100000"/>
              <a:buChar char="●"/>
            </a:pPr>
            <a:r>
              <a:rPr lang="en" sz="2315"/>
              <a:t>Users have more of a say during development on how the final product should look</a:t>
            </a:r>
            <a:endParaRPr sz="2315"/>
          </a:p>
        </p:txBody>
      </p:sp>
      <p:sp>
        <p:nvSpPr>
          <p:cNvPr id="85" name="Google Shape;85;p17"/>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Waterfall</a:t>
            </a:r>
            <a:endParaRPr b="1"/>
          </a:p>
          <a:p>
            <a:pPr indent="-330200" lvl="0" marL="457200" rtl="0" algn="l">
              <a:spcBef>
                <a:spcPts val="1200"/>
              </a:spcBef>
              <a:spcAft>
                <a:spcPts val="0"/>
              </a:spcAft>
              <a:buSzPts val="1600"/>
              <a:buChar char="●"/>
            </a:pPr>
            <a:r>
              <a:rPr lang="en" sz="1600"/>
              <a:t>Better for small projects that are </a:t>
            </a:r>
            <a:r>
              <a:rPr lang="en" sz="1600"/>
              <a:t>fully defined from the beginning</a:t>
            </a:r>
            <a:endParaRPr sz="1600"/>
          </a:p>
          <a:p>
            <a:pPr indent="-330200" lvl="0" marL="457200" rtl="0" algn="l">
              <a:spcBef>
                <a:spcPts val="0"/>
              </a:spcBef>
              <a:spcAft>
                <a:spcPts val="0"/>
              </a:spcAft>
              <a:buSzPts val="1600"/>
              <a:buChar char="●"/>
            </a:pPr>
            <a:r>
              <a:rPr lang="en" sz="1600"/>
              <a:t>Not as much opportunity for collaboration because everyone already has a defined backlog of work that they do not expect to change</a:t>
            </a:r>
            <a:endParaRPr sz="1600"/>
          </a:p>
          <a:p>
            <a:pPr indent="-330200" lvl="0" marL="457200" rtl="0" algn="l">
              <a:spcBef>
                <a:spcPts val="0"/>
              </a:spcBef>
              <a:spcAft>
                <a:spcPts val="0"/>
              </a:spcAft>
              <a:buSzPts val="1600"/>
              <a:buChar char="●"/>
            </a:pPr>
            <a:r>
              <a:rPr lang="en" sz="1600"/>
              <a:t>Tasks are rigid, one must be completed before moving on to the next</a:t>
            </a:r>
            <a:endParaRPr sz="1600"/>
          </a:p>
          <a:p>
            <a:pPr indent="-330200" lvl="0" marL="457200" rtl="0" algn="l">
              <a:spcBef>
                <a:spcPts val="0"/>
              </a:spcBef>
              <a:spcAft>
                <a:spcPts val="0"/>
              </a:spcAft>
              <a:buSzPts val="1600"/>
              <a:buChar char="●"/>
            </a:pPr>
            <a:r>
              <a:rPr lang="en" sz="1600"/>
              <a:t>Users do not have much opportunity to give feedback because the product is clearly defined and unable to change</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Agile vs. Waterfall</a:t>
            </a:r>
            <a:endParaRPr/>
          </a:p>
        </p:txBody>
      </p:sp>
      <p:sp>
        <p:nvSpPr>
          <p:cNvPr id="91" name="Google Shape;91;p1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Overall, each method used for SDLC has its pros and cons. After my experience with this project, I would argue that most of the projects being worked on in the software development world would </a:t>
            </a:r>
            <a:r>
              <a:rPr lang="en"/>
              <a:t>benefit</a:t>
            </a:r>
            <a:r>
              <a:rPr lang="en"/>
              <a:t> more from agile or other similar practices. However, I’m sure there’s a small amount of companies that the waterfall method appeals to. Teams who have small, concise projects and know exactly what they want to get out of them from the start are better off using the waterfall method. </a:t>
            </a:r>
            <a:endParaRPr/>
          </a:p>
          <a:p>
            <a:pPr indent="0" lvl="0" marL="0" rtl="0" algn="l">
              <a:spcBef>
                <a:spcPts val="1200"/>
              </a:spcBef>
              <a:spcAft>
                <a:spcPts val="1200"/>
              </a:spcAft>
              <a:buNone/>
            </a:pPr>
            <a:r>
              <a:rPr lang="en"/>
              <a:t>The grand majority of software </a:t>
            </a:r>
            <a:r>
              <a:rPr lang="en"/>
              <a:t>companies nowadays</a:t>
            </a:r>
            <a:r>
              <a:rPr lang="en"/>
              <a:t>, though, is probably better suited with agile.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97" name="Google Shape;97;p1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SDLC – Waterfall Model. (n.d.). </a:t>
            </a:r>
            <a:r>
              <a:rPr i="1" lang="en" sz="1200">
                <a:solidFill>
                  <a:schemeClr val="dk1"/>
                </a:solidFill>
                <a:latin typeface="Times New Roman"/>
                <a:ea typeface="Times New Roman"/>
                <a:cs typeface="Times New Roman"/>
                <a:sym typeface="Times New Roman"/>
              </a:rPr>
              <a:t>TutorialsPoint</a:t>
            </a:r>
            <a:r>
              <a:rPr lang="en" sz="1200">
                <a:solidFill>
                  <a:schemeClr val="dk1"/>
                </a:solidFill>
                <a:latin typeface="Times New Roman"/>
                <a:ea typeface="Times New Roman"/>
                <a:cs typeface="Times New Roman"/>
                <a:sym typeface="Times New Roman"/>
              </a:rPr>
              <a:t>.</a:t>
            </a:r>
            <a:r>
              <a:rPr lang="en" sz="12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https://www.tutorialspoint.com/sdlc/sdlc_waterfall_model.htm</a:t>
            </a:r>
            <a:endParaRPr sz="1200">
              <a:solidFill>
                <a:srgbClr val="1155CC"/>
              </a:solidFill>
              <a:latin typeface="Times New Roman"/>
              <a:ea typeface="Times New Roman"/>
              <a:cs typeface="Times New Roman"/>
              <a:sym typeface="Times New Roman"/>
            </a:endParaRPr>
          </a:p>
          <a:p>
            <a:pPr indent="0" lvl="0" marL="0" rtl="0" algn="l">
              <a:spcBef>
                <a:spcPts val="1200"/>
              </a:spcBef>
              <a:spcAft>
                <a:spcPts val="0"/>
              </a:spcAft>
              <a:buNone/>
            </a:pPr>
            <a:r>
              <a:rPr i="1" lang="en" sz="1200">
                <a:solidFill>
                  <a:schemeClr val="dk1"/>
                </a:solidFill>
                <a:latin typeface="Times New Roman"/>
                <a:ea typeface="Times New Roman"/>
                <a:cs typeface="Times New Roman"/>
                <a:sym typeface="Times New Roman"/>
              </a:rPr>
              <a:t>SDLC – Agile Model.</a:t>
            </a:r>
            <a:r>
              <a:rPr lang="en" sz="1200">
                <a:solidFill>
                  <a:schemeClr val="dk1"/>
                </a:solidFill>
                <a:latin typeface="Times New Roman"/>
                <a:ea typeface="Times New Roman"/>
                <a:cs typeface="Times New Roman"/>
                <a:sym typeface="Times New Roman"/>
              </a:rPr>
              <a:t> (n.d.). </a:t>
            </a:r>
            <a:r>
              <a:rPr i="1" lang="en" sz="1200">
                <a:solidFill>
                  <a:schemeClr val="dk1"/>
                </a:solidFill>
                <a:latin typeface="Times New Roman"/>
                <a:ea typeface="Times New Roman"/>
                <a:cs typeface="Times New Roman"/>
                <a:sym typeface="Times New Roman"/>
              </a:rPr>
              <a:t>TutorialsPoint.</a:t>
            </a:r>
            <a:r>
              <a:rPr lang="en" sz="12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 </a:t>
            </a:r>
            <a:r>
              <a:rPr lang="en"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https://www.tutorialspoint.com/sdlc/sdlc_agile_model.htm</a:t>
            </a:r>
            <a:endParaRPr sz="1200">
              <a:solidFill>
                <a:srgbClr val="1155CC"/>
              </a:solidFill>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Knowledge Train. (2023, May 18). </a:t>
            </a:r>
            <a:r>
              <a:rPr i="1" lang="en" sz="1200">
                <a:solidFill>
                  <a:schemeClr val="dk1"/>
                </a:solidFill>
                <a:latin typeface="Times New Roman"/>
                <a:ea typeface="Times New Roman"/>
                <a:cs typeface="Times New Roman"/>
                <a:sym typeface="Times New Roman"/>
              </a:rPr>
              <a:t>Agile principles.</a:t>
            </a:r>
            <a:r>
              <a:rPr lang="en" sz="1200">
                <a:solidFill>
                  <a:schemeClr val="dk1"/>
                </a:solidFill>
                <a:latin typeface="Times New Roman"/>
                <a:ea typeface="Times New Roman"/>
                <a:cs typeface="Times New Roman"/>
                <a:sym typeface="Times New Roman"/>
              </a:rPr>
              <a:t> Knowledge Train.</a:t>
            </a:r>
            <a:r>
              <a:rPr lang="en" sz="1200">
                <a:solidFill>
                  <a:schemeClr val="dk1"/>
                </a:solidFill>
                <a:uFill>
                  <a:noFill/>
                </a:uFill>
                <a:latin typeface="Times New Roman"/>
                <a:ea typeface="Times New Roman"/>
                <a:cs typeface="Times New Roman"/>
                <a:sym typeface="Times New Roman"/>
                <a:hlinkClick r:id="rId7">
                  <a:extLst>
                    <a:ext uri="{A12FA001-AC4F-418D-AE19-62706E023703}">
                      <ahyp:hlinkClr val="tx"/>
                    </a:ext>
                  </a:extLst>
                </a:hlinkClick>
              </a:rPr>
              <a:t> </a:t>
            </a:r>
            <a:endParaRPr sz="1100">
              <a:solidFill>
                <a:schemeClr val="dk1"/>
              </a:solidFill>
            </a:endParaRPr>
          </a:p>
          <a:p>
            <a:pPr indent="457200" lvl="0" marL="0" rtl="0" algn="l">
              <a:lnSpc>
                <a:spcPct val="200000"/>
              </a:lnSpc>
              <a:spcBef>
                <a:spcPts val="0"/>
              </a:spcBef>
              <a:spcAft>
                <a:spcPts val="0"/>
              </a:spcAft>
              <a:buClr>
                <a:schemeClr val="dk1"/>
              </a:buClr>
              <a:buSzPts val="1100"/>
              <a:buFont typeface="Arial"/>
              <a:buNone/>
            </a:pPr>
            <a:r>
              <a:rPr lang="en" sz="12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https://www.knowledgetrain.co.uk/agile/agile-project-management/agile-project-manage</a:t>
            </a:r>
            <a:endParaRPr sz="1100">
              <a:solidFill>
                <a:schemeClr val="dk1"/>
              </a:solidFill>
            </a:endParaRPr>
          </a:p>
          <a:p>
            <a:pPr indent="0" lvl="0" marL="457200" rtl="0" algn="l">
              <a:lnSpc>
                <a:spcPct val="200000"/>
              </a:lnSpc>
              <a:spcBef>
                <a:spcPts val="0"/>
              </a:spcBef>
              <a:spcAft>
                <a:spcPts val="0"/>
              </a:spcAft>
              <a:buClr>
                <a:schemeClr val="dk1"/>
              </a:buClr>
              <a:buSzPts val="1100"/>
              <a:buFont typeface="Arial"/>
              <a:buNone/>
            </a:pPr>
            <a:r>
              <a:rPr lang="en" sz="1200" u="sng">
                <a:solidFill>
                  <a:srgbClr val="1155CC"/>
                </a:solidFill>
                <a:latin typeface="Times New Roman"/>
                <a:ea typeface="Times New Roman"/>
                <a:cs typeface="Times New Roman"/>
                <a:sym typeface="Times New Roman"/>
                <a:hlinkClick r:id="rId9">
                  <a:extLst>
                    <a:ext uri="{A12FA001-AC4F-418D-AE19-62706E023703}">
                      <ahyp:hlinkClr val="tx"/>
                    </a:ext>
                  </a:extLst>
                </a:hlinkClick>
              </a:rPr>
              <a:t>ment-course/agile-principles?srsltid=AfmBOooE7pXih36IWcDcgfs-g7-KrvWsWaFyGtBUGWGURaLAkv4oCLk3</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i="1" lang="en" sz="1200">
                <a:solidFill>
                  <a:schemeClr val="dk1"/>
                </a:solidFill>
                <a:latin typeface="Times New Roman"/>
                <a:ea typeface="Times New Roman"/>
                <a:cs typeface="Times New Roman"/>
                <a:sym typeface="Times New Roman"/>
              </a:rPr>
              <a:t>The Scrum team roles and accountabilities.</a:t>
            </a:r>
            <a:r>
              <a:rPr lang="en" sz="1200">
                <a:solidFill>
                  <a:schemeClr val="dk1"/>
                </a:solidFill>
                <a:latin typeface="Times New Roman"/>
                <a:ea typeface="Times New Roman"/>
                <a:cs typeface="Times New Roman"/>
                <a:sym typeface="Times New Roman"/>
              </a:rPr>
              <a:t> (2025, September). </a:t>
            </a:r>
            <a:r>
              <a:rPr i="1" lang="en" sz="1200">
                <a:solidFill>
                  <a:schemeClr val="dk1"/>
                </a:solidFill>
                <a:latin typeface="Times New Roman"/>
                <a:ea typeface="Times New Roman"/>
                <a:cs typeface="Times New Roman"/>
                <a:sym typeface="Times New Roman"/>
              </a:rPr>
              <a:t>Scrum Alliance.</a:t>
            </a:r>
            <a:r>
              <a:rPr lang="en" sz="1200">
                <a:solidFill>
                  <a:schemeClr val="dk1"/>
                </a:solidFill>
                <a:uFill>
                  <a:noFill/>
                </a:uFill>
                <a:latin typeface="Times New Roman"/>
                <a:ea typeface="Times New Roman"/>
                <a:cs typeface="Times New Roman"/>
                <a:sym typeface="Times New Roman"/>
                <a:hlinkClick r:id="rId10">
                  <a:extLst>
                    <a:ext uri="{A12FA001-AC4F-418D-AE19-62706E023703}">
                      <ahyp:hlinkClr val="tx"/>
                    </a:ext>
                  </a:extLst>
                </a:hlinkClick>
              </a:rPr>
              <a:t> </a:t>
            </a:r>
            <a:endParaRPr sz="1100">
              <a:solidFill>
                <a:schemeClr val="dk1"/>
              </a:solidFill>
            </a:endParaRPr>
          </a:p>
          <a:p>
            <a:pPr indent="457200" lvl="0" marL="0" rtl="0" algn="l">
              <a:lnSpc>
                <a:spcPct val="200000"/>
              </a:lnSpc>
              <a:spcBef>
                <a:spcPts val="0"/>
              </a:spcBef>
              <a:spcAft>
                <a:spcPts val="0"/>
              </a:spcAft>
              <a:buClr>
                <a:schemeClr val="dk1"/>
              </a:buClr>
              <a:buSzPts val="1100"/>
              <a:buFont typeface="Arial"/>
              <a:buNone/>
            </a:pPr>
            <a:r>
              <a:rPr lang="en" sz="1200" u="sng">
                <a:solidFill>
                  <a:srgbClr val="1155CC"/>
                </a:solidFill>
                <a:latin typeface="Times New Roman"/>
                <a:ea typeface="Times New Roman"/>
                <a:cs typeface="Times New Roman"/>
                <a:sym typeface="Times New Roman"/>
                <a:hlinkClick r:id="rId11">
                  <a:extLst>
                    <a:ext uri="{A12FA001-AC4F-418D-AE19-62706E023703}">
                      <ahyp:hlinkClr val="tx"/>
                    </a:ext>
                  </a:extLst>
                </a:hlinkClick>
              </a:rPr>
              <a:t>https://resources.scrumalliance.org/Article/scrum-team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